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0" r:id="rId6"/>
    <p:sldId id="271" r:id="rId7"/>
    <p:sldId id="273" r:id="rId8"/>
    <p:sldId id="274" r:id="rId9"/>
    <p:sldId id="275" r:id="rId10"/>
    <p:sldId id="276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9" autoAdjust="0"/>
    <p:restoredTop sz="94660"/>
  </p:normalViewPr>
  <p:slideViewPr>
    <p:cSldViewPr>
      <p:cViewPr varScale="1">
        <p:scale>
          <a:sx n="70" d="100"/>
          <a:sy n="70" d="100"/>
        </p:scale>
        <p:origin x="40" y="6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50F3B11-940E-47CE-B693-CE7D23FE028D}" type="datetime1">
              <a:rPr lang="it-IT" smtClean="0"/>
              <a:t>15/03/2026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45ACAF8E-318A-4EFE-8633-D9E72ABCE0ED}" type="slidenum">
              <a:rPr lang="it-IT" smtClean="0"/>
              <a:pPr algn="r"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A4BF746C-B2A6-4B2E-9724-880F3AE30A67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5EE2CF44-2B13-41B4-A334-1CDF534EEBBF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 dirty="0"/>
          </a:p>
        </p:txBody>
      </p:sp>
      <p:sp>
        <p:nvSpPr>
          <p:cNvPr id="7" name="Rettangolo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5pPr algn="l" rtl="0">
              <a:defRPr/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8AB5625-64B4-460E-A6D9-369CE1012A9B}" type="datetime1">
              <a:rPr lang="it-IT" noProof="0" smtClean="0"/>
              <a:pPr/>
              <a:t>15/03/2026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rtlCol="0" anchor="b">
            <a:normAutofit/>
          </a:bodyPr>
          <a:lstStyle>
            <a:lvl1pPr algn="l" rtl="0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524000" y="4589463"/>
            <a:ext cx="9144000" cy="150653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l" rtl="0">
              <a:buNone/>
              <a:defRPr sz="2000"/>
            </a:lvl2pPr>
            <a:lvl3pPr marL="914400" indent="0" algn="l" rtl="0">
              <a:buNone/>
              <a:defRPr sz="1800"/>
            </a:lvl3pPr>
            <a:lvl4pPr marL="1371600" indent="0" algn="l" rtl="0">
              <a:buNone/>
              <a:defRPr sz="1600"/>
            </a:lvl4pPr>
            <a:lvl5pPr marL="1828800" indent="0" algn="l" rtl="0">
              <a:buNone/>
              <a:defRPr sz="1600"/>
            </a:lvl5pPr>
            <a:lvl6pPr marL="2286000" indent="0" algn="l" rtl="0">
              <a:buNone/>
              <a:defRPr sz="1600"/>
            </a:lvl6pPr>
            <a:lvl7pPr marL="2743200" indent="0" algn="l" rtl="0">
              <a:buNone/>
              <a:defRPr sz="1600"/>
            </a:lvl7pPr>
            <a:lvl8pPr marL="3200400" indent="0" algn="l" rtl="0">
              <a:buNone/>
              <a:defRPr sz="1600"/>
            </a:lvl8pPr>
            <a:lvl9pPr marL="3657600" indent="0" algn="l" rtl="0">
              <a:buNone/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15240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3246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E3FD152-3CF4-4A12-82AF-D5B89DAE18A5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5270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15270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63276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63276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it-IT" dirty="0"/>
              <a:t>​</a:t>
            </a:r>
            <a:fld id="{B973B550-EAE9-42BF-A7DE-AB698B003719}" type="datetime1">
              <a:rPr lang="it-IT" smtClean="0"/>
              <a:pPr/>
              <a:t>15/03/2026</a:t>
            </a:fld>
            <a:r>
              <a:rPr lang="it-IT" dirty="0"/>
              <a:t>​</a:t>
            </a: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5DBFB90-286B-4CDB-A537-E7766944BBAA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57A6CF1-12FE-4BE3-BB63-C2344989F7C5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Autofit/>
          </a:bodyPr>
          <a:lstStyle>
            <a:lvl1pPr algn="l" rtl="0"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52CC9C2-6E71-4474-A4C0-C6B34CDA8882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sz="1600" noProof="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rtlCol="0" anchor="b">
            <a:noAutofit/>
          </a:bodyPr>
          <a:lstStyle>
            <a:lvl1pPr algn="l" rtl="0"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7997952" y="3429000"/>
            <a:ext cx="3127248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B83B478-ACB0-4EE2-AD22-6C44567486AE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734052-D933-4BCC-B6A5-48EFD76F7754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>
          <a:xfrm>
            <a:off x="1524000" y="457199"/>
            <a:ext cx="7048500" cy="5638801"/>
          </a:xfrm>
        </p:spPr>
        <p:txBody>
          <a:bodyPr vert="eaVert" rtlCol="0"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6CDBF89-191F-4BB6-A0A5-AE82CFBD06FA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856CDCEB-3746-40FA-A774-AE430F8D6A09}" type="datetime1">
              <a:rPr lang="it-IT" smtClean="0"/>
              <a:pPr/>
              <a:t>15/03/2026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591944" y="4005064"/>
            <a:ext cx="6696744" cy="537173"/>
          </a:xfrm>
        </p:spPr>
        <p:txBody>
          <a:bodyPr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3000" b="1" u="sng" kern="100" cap="small" dirty="0">
                <a:effectLst/>
                <a:latin typeface="Cascadia Mono SemiBold" panose="020B06090200000200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Progettazione di Sistemi Digitali</a:t>
            </a:r>
            <a:endParaRPr lang="it-IT" sz="3000" b="1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5C5EB19-5CFD-6EFE-AFAA-B7FCF3311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40968"/>
            <a:ext cx="5735960" cy="2520280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4000" y="836712"/>
            <a:ext cx="9144000" cy="4755766"/>
          </a:xfrm>
        </p:spPr>
        <p:txBody>
          <a:bodyPr rtlCol="0"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 richiede di progettare un </a:t>
            </a:r>
            <a:r>
              <a:rPr lang="it-IT" sz="27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convolutore</a:t>
            </a:r>
            <a: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isotropico, per il filtraggio di immagini (32x32) in scala di grigio (pixels a 8-bit </a:t>
            </a:r>
            <a:r>
              <a:rPr lang="it-IT" sz="27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unsigned</a:t>
            </a:r>
            <a: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che usi un kernel 3x3 con coefficienti a 8-bit in complemento a due.</a:t>
            </a:r>
            <a:b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br>
              <a:rPr lang="it-IT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circuito, oltre alla parte di calcolo, deve includere il buffer per la formazione della finestra di pixels e una parte di controllo che consenta di fornire, almeno, un segnale di </a:t>
            </a:r>
            <a:r>
              <a:rPr lang="it-IT" sz="27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</a:t>
            </a:r>
            <a: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corrispondenza delle uscite. </a:t>
            </a:r>
            <a:b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it-IT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2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 sono richieste operazioni di arrotondamento o saturazione sui pixels filtrati.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0" y="260648"/>
            <a:ext cx="12192000" cy="1506537"/>
          </a:xfrm>
        </p:spPr>
        <p:txBody>
          <a:bodyPr rtlCol="0">
            <a:normAutofit/>
          </a:bodyPr>
          <a:lstStyle/>
          <a:p>
            <a:pPr algn="ctr" rtl="0"/>
            <a:r>
              <a:rPr lang="it-IT" sz="6000" dirty="0"/>
              <a:t>Specifiche di Progetto</a:t>
            </a:r>
          </a:p>
        </p:txBody>
      </p:sp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8BD64-AD0E-E5AC-533B-E1DB689F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75E41E-2D4B-93EF-4B05-748C821C6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>
                <a:effectLst/>
              </a:rPr>
            </a:br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8B9337C-75DB-E3BE-B2BA-7AE2F136F7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24" y="980728"/>
            <a:ext cx="3813942" cy="45658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116B1A3A-0A43-C488-8885-D4847104E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74672" y="865704"/>
            <a:ext cx="5050528" cy="22344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3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struttura del progetto comprende:</a:t>
            </a:r>
            <a:endParaRPr lang="it-IT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07000"/>
              </a:lnSpc>
              <a:buFont typeface="+mj-lt"/>
              <a:buAutoNum type="arabicPeriod"/>
            </a:pPr>
            <a:r>
              <a:rPr lang="it-IT" sz="2200" b="1" kern="100" cap="small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Buffer Line</a:t>
            </a:r>
            <a:endParaRPr lang="it-IT" sz="2200" b="1" kern="100" cap="small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07000"/>
              </a:lnSpc>
              <a:buFont typeface="+mj-lt"/>
              <a:buAutoNum type="arabicPeriod"/>
            </a:pPr>
            <a:r>
              <a:rPr lang="it-IT" sz="2200" b="1" kern="100" cap="small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Convolutore</a:t>
            </a:r>
            <a:endParaRPr lang="it-IT" sz="2200" b="1" kern="100" cap="small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07000"/>
              </a:lnSpc>
              <a:buFont typeface="+mj-lt"/>
              <a:buAutoNum type="arabicPeriod"/>
            </a:pPr>
            <a:r>
              <a:rPr lang="it-IT" sz="2200" b="1" kern="100" cap="small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FSM</a:t>
            </a:r>
            <a:endParaRPr lang="it-IT" sz="2200" b="1" kern="100" cap="small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it-IT" sz="2200" b="1" kern="100" cap="small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Contatore</a:t>
            </a:r>
            <a:endParaRPr lang="it-IT" sz="2200" b="1" kern="100" cap="small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624EEA8-857F-0E55-2A8E-13349E664B13}"/>
              </a:ext>
            </a:extLst>
          </p:cNvPr>
          <p:cNvSpPr txBox="1">
            <a:spLocks/>
          </p:cNvSpPr>
          <p:nvPr/>
        </p:nvSpPr>
        <p:spPr>
          <a:xfrm>
            <a:off x="0" y="54039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5000" dirty="0">
                <a:solidFill>
                  <a:schemeClr val="accent1"/>
                </a:solidFill>
              </a:rPr>
              <a:t>Architettura Generale: TOP LEVEL</a:t>
            </a:r>
          </a:p>
        </p:txBody>
      </p:sp>
      <p:pic>
        <p:nvPicPr>
          <p:cNvPr id="3" name="Immagine 2" descr="Immagine che contiene diagramma, testo, linea, Piano&#10;&#10;Il contenuto generato dall'IA potrebbe non essere corretto.">
            <a:extLst>
              <a:ext uri="{FF2B5EF4-FFF2-40B4-BE49-F238E27FC236}">
                <a16:creationId xmlns:a16="http://schemas.microsoft.com/office/drawing/2014/main" id="{1C90442D-EECB-B17B-FC1F-0C395A00B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634" y="3139824"/>
            <a:ext cx="7825906" cy="352839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F70D81E-3AF7-93DB-FD1D-B12173605299}"/>
              </a:ext>
            </a:extLst>
          </p:cNvPr>
          <p:cNvSpPr txBox="1"/>
          <p:nvPr/>
        </p:nvSpPr>
        <p:spPr>
          <a:xfrm>
            <a:off x="3991392" y="277049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 err="1">
                <a:solidFill>
                  <a:schemeClr val="accent1"/>
                </a:solidFill>
              </a:rPr>
              <a:t>Schematic</a:t>
            </a:r>
            <a:r>
              <a:rPr lang="it-IT" sz="1800" dirty="0">
                <a:solidFill>
                  <a:schemeClr val="accent1"/>
                </a:solidFill>
              </a:rPr>
              <a:t> RTL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8864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C22F0-D1CD-5B13-2C1A-19D765F9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7E5F82-3F87-982F-9A96-C02B167D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 dirty="0">
                <a:effectLst/>
              </a:rPr>
            </a:br>
            <a:endParaRPr lang="it-IT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D150BC28-CA35-E507-E0DB-0E7EA9808AA2}"/>
              </a:ext>
            </a:extLst>
          </p:cNvPr>
          <p:cNvSpPr txBox="1">
            <a:spLocks/>
          </p:cNvSpPr>
          <p:nvPr/>
        </p:nvSpPr>
        <p:spPr>
          <a:xfrm>
            <a:off x="0" y="54039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6000" dirty="0">
                <a:solidFill>
                  <a:schemeClr val="accent1"/>
                </a:solidFill>
              </a:rPr>
              <a:t>Buffer Line</a:t>
            </a:r>
          </a:p>
        </p:txBody>
      </p:sp>
      <p:pic>
        <p:nvPicPr>
          <p:cNvPr id="4" name="Immagine 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58C434AF-6DE9-D81A-8633-88EB666E8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89" y="885416"/>
            <a:ext cx="3006723" cy="325836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02738DE-85CF-D43C-85A3-F457B20B827B}"/>
              </a:ext>
            </a:extLst>
          </p:cNvPr>
          <p:cNvSpPr txBox="1"/>
          <p:nvPr/>
        </p:nvSpPr>
        <p:spPr>
          <a:xfrm>
            <a:off x="4566219" y="1428270"/>
            <a:ext cx="7128792" cy="254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Buffer Line si occupa di realizzare la finestra di convoluzione.</a:t>
            </a:r>
            <a:b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 autonomamente l’estensione ai bordi mista con zeri e toroidale.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4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 scorrimento ha inizio quando viene abilitato il contatore 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(</a:t>
            </a:r>
            <a:r>
              <a:rPr lang="it-IT" sz="2400" i="1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counter_enable</a:t>
            </a:r>
            <a:r>
              <a:rPr lang="it-IT" sz="2400" i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=’1’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).</a:t>
            </a:r>
            <a:endParaRPr lang="it-IT" sz="24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8E0F22-4DEC-29FF-F9E0-36F6B75A765A}"/>
              </a:ext>
            </a:extLst>
          </p:cNvPr>
          <p:cNvSpPr txBox="1"/>
          <p:nvPr/>
        </p:nvSpPr>
        <p:spPr>
          <a:xfrm>
            <a:off x="4566219" y="4055773"/>
            <a:ext cx="5904656" cy="274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buffer line si compone di:</a:t>
            </a:r>
            <a:endParaRPr lang="it-IT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 registri per effettuare lo scorrimento sulla prima riga della finestra.</a:t>
            </a:r>
            <a:endParaRPr lang="it-IT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Due FIFO di dimensione </a:t>
            </a:r>
            <a:r>
              <a:rPr lang="it-IT" sz="22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m-k</a:t>
            </a: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29, in modo tale che i dati contenuti nella FIFO e i successivi tre registri contengano una riga intera (32 pixel). </a:t>
            </a:r>
          </a:p>
          <a:p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42169E9-4DAF-2E28-BE5A-7A43279A0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96"/>
          <a:stretch>
            <a:fillRect/>
          </a:stretch>
        </p:blipFill>
        <p:spPr bwMode="auto">
          <a:xfrm>
            <a:off x="191344" y="4222832"/>
            <a:ext cx="4293758" cy="23377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9494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81303-8780-4386-B554-BBD9566E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6B2698-E535-1D91-B70D-83D41D6D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 dirty="0">
                <a:effectLst/>
              </a:rPr>
            </a:br>
            <a:endParaRPr lang="it-IT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51F11E4C-A43B-40A6-205A-BB7DA05E878C}"/>
              </a:ext>
            </a:extLst>
          </p:cNvPr>
          <p:cNvSpPr txBox="1">
            <a:spLocks/>
          </p:cNvSpPr>
          <p:nvPr/>
        </p:nvSpPr>
        <p:spPr>
          <a:xfrm>
            <a:off x="0" y="54039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6000" dirty="0" err="1">
                <a:solidFill>
                  <a:schemeClr val="accent1"/>
                </a:solidFill>
              </a:rPr>
              <a:t>Convolutore</a:t>
            </a:r>
            <a:endParaRPr lang="it-IT" sz="6000" dirty="0">
              <a:solidFill>
                <a:schemeClr val="accent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F6F7EC8-A227-46E7-19FE-4AFFCEBEE3E6}"/>
              </a:ext>
            </a:extLst>
          </p:cNvPr>
          <p:cNvSpPr txBox="1"/>
          <p:nvPr/>
        </p:nvSpPr>
        <p:spPr>
          <a:xfrm>
            <a:off x="6095224" y="1173130"/>
            <a:ext cx="7146405" cy="3341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</a:t>
            </a:r>
            <a:r>
              <a:rPr lang="it-IT" sz="2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convolutore</a:t>
            </a: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 compone dai seguenti blocchi: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Stadio PIPE controllato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Adder</a:t>
            </a: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Tree Corner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Adder</a:t>
            </a: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Tree </a:t>
            </a: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Lateral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Shift </a:t>
            </a: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Register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Booth </a:t>
            </a: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Multiplier</a:t>
            </a: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Corner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Booth </a:t>
            </a: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Multiplier</a:t>
            </a: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Central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Booth </a:t>
            </a: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Multiplier</a:t>
            </a:r>
            <a:r>
              <a:rPr lang="it-IT" sz="2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2400" i="1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Lateral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941907B1-28D4-245A-C172-108AF25DB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9" b="3683"/>
          <a:stretch>
            <a:fillRect/>
          </a:stretch>
        </p:blipFill>
        <p:spPr>
          <a:xfrm>
            <a:off x="191344" y="553490"/>
            <a:ext cx="3345373" cy="323454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5E5DA822-A40D-7E5B-6EA0-08C9A3F4D6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98340" y="2514600"/>
            <a:ext cx="4287818" cy="4277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113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0514C-24F6-6BA4-5B83-55421A84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61B1418-1DBB-3F99-2572-DC7CDF543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344" y="747198"/>
            <a:ext cx="5377045" cy="53636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1AFA575-23B7-F633-6DAE-BF8AFD24E4F4}"/>
              </a:ext>
            </a:extLst>
          </p:cNvPr>
          <p:cNvSpPr txBox="1"/>
          <p:nvPr/>
        </p:nvSpPr>
        <p:spPr>
          <a:xfrm>
            <a:off x="5663952" y="980136"/>
            <a:ext cx="6192688" cy="4897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800"/>
              </a:spcBef>
              <a:spcAft>
                <a:spcPts val="80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Vengono abilitati i registri dello stadio PIPE portando allo stato alto </a:t>
            </a:r>
            <a:r>
              <a:rPr lang="it-IT" sz="2400" i="1" dirty="0" err="1">
                <a:solidFill>
                  <a:schemeClr val="tx1">
                    <a:lumMod val="85000"/>
                  </a:schemeClr>
                </a:solidFill>
                <a:effectLst/>
              </a:rPr>
              <a:t>DataCtrl</a:t>
            </a:r>
            <a:r>
              <a:rPr lang="it-IT" sz="2400" i="1" dirty="0">
                <a:solidFill>
                  <a:schemeClr val="tx1">
                    <a:lumMod val="85000"/>
                  </a:schemeClr>
                </a:solidFill>
              </a:rPr>
              <a:t>.</a:t>
            </a:r>
            <a:b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</a:b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I valori dei registri vengono convogliati nei rispettivi </a:t>
            </a:r>
            <a:r>
              <a:rPr lang="it-IT" sz="2400" dirty="0" err="1">
                <a:solidFill>
                  <a:schemeClr val="tx1">
                    <a:lumMod val="85000"/>
                  </a:schemeClr>
                </a:solidFill>
                <a:effectLst/>
              </a:rPr>
              <a:t>adder</a:t>
            </a: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 </a:t>
            </a:r>
            <a:r>
              <a:rPr lang="it-IT" sz="2400" dirty="0" err="1">
                <a:solidFill>
                  <a:schemeClr val="tx1">
                    <a:lumMod val="85000"/>
                  </a:schemeClr>
                </a:solidFill>
                <a:effectLst/>
              </a:rPr>
              <a:t>tree</a:t>
            </a: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.</a:t>
            </a:r>
            <a:b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</a:br>
            <a:b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</a:b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Il pixel centrale viene trasferito in uno shift </a:t>
            </a:r>
            <a:r>
              <a:rPr lang="it-IT" sz="2400" dirty="0" err="1">
                <a:solidFill>
                  <a:schemeClr val="tx1">
                    <a:lumMod val="85000"/>
                  </a:schemeClr>
                </a:solidFill>
                <a:effectLst/>
              </a:rPr>
              <a:t>register</a:t>
            </a: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, necessita di essere esteso a 10 bit prima di raggiungere il moltiplicatore.</a:t>
            </a:r>
            <a:b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</a:b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Le uscite dei moltiplicatori vengono infine sommate in un </a:t>
            </a:r>
            <a:r>
              <a:rPr lang="it-IT" sz="2400" dirty="0" err="1">
                <a:solidFill>
                  <a:schemeClr val="tx1">
                    <a:lumMod val="85000"/>
                  </a:schemeClr>
                </a:solidFill>
                <a:effectLst/>
              </a:rPr>
              <a:t>adder</a:t>
            </a: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 </a:t>
            </a:r>
            <a:r>
              <a:rPr lang="it-IT" sz="2400" dirty="0" err="1">
                <a:solidFill>
                  <a:schemeClr val="tx1">
                    <a:lumMod val="85000"/>
                  </a:schemeClr>
                </a:solidFill>
                <a:effectLst/>
              </a:rPr>
              <a:t>tree</a:t>
            </a: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 finale il cui output restituisce il pixel filtrato.</a:t>
            </a:r>
            <a:b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</a:br>
            <a:b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</a:b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Il processo si ripete fin quando </a:t>
            </a:r>
            <a:r>
              <a:rPr lang="it-IT" sz="2400" i="1" dirty="0" err="1">
                <a:solidFill>
                  <a:schemeClr val="tx1">
                    <a:lumMod val="85000"/>
                  </a:schemeClr>
                </a:solidFill>
                <a:effectLst/>
              </a:rPr>
              <a:t>DataCtrl</a:t>
            </a:r>
            <a:r>
              <a:rPr lang="it-IT" sz="2400" dirty="0">
                <a:solidFill>
                  <a:schemeClr val="tx1">
                    <a:lumMod val="85000"/>
                  </a:schemeClr>
                </a:solidFill>
                <a:effectLst/>
              </a:rPr>
              <a:t> resta alto.</a:t>
            </a:r>
          </a:p>
        </p:txBody>
      </p:sp>
    </p:spTree>
    <p:extLst>
      <p:ext uri="{BB962C8B-B14F-4D97-AF65-F5344CB8AC3E}">
        <p14:creationId xmlns:p14="http://schemas.microsoft.com/office/powerpoint/2010/main" val="212282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E23B-7799-145E-48D3-8E993C64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2CDA6E-79BF-8072-E5C0-0C672213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 dirty="0">
                <a:effectLst/>
              </a:rPr>
            </a:b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D25431A2-9231-1FBD-F457-624213CAD1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048" y="1484784"/>
            <a:ext cx="5832648" cy="476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5E77C343-0C94-3704-0E67-0DC16E1C94F8}"/>
              </a:ext>
            </a:extLst>
          </p:cNvPr>
          <p:cNvSpPr txBox="1">
            <a:spLocks/>
          </p:cNvSpPr>
          <p:nvPr/>
        </p:nvSpPr>
        <p:spPr>
          <a:xfrm>
            <a:off x="0" y="54039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6000" dirty="0" err="1">
                <a:solidFill>
                  <a:schemeClr val="accent1"/>
                </a:solidFill>
              </a:rPr>
              <a:t>Adder</a:t>
            </a:r>
            <a:r>
              <a:rPr lang="it-IT" sz="6000" dirty="0"/>
              <a:t> </a:t>
            </a:r>
            <a:r>
              <a:rPr lang="it-IT" sz="6000" dirty="0">
                <a:solidFill>
                  <a:schemeClr val="accent1"/>
                </a:solidFill>
              </a:rPr>
              <a:t>Tree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D7AE5D6-6187-34B0-B5A2-14A7FF399D27}"/>
              </a:ext>
            </a:extLst>
          </p:cNvPr>
          <p:cNvSpPr txBox="1"/>
          <p:nvPr/>
        </p:nvSpPr>
        <p:spPr>
          <a:xfrm>
            <a:off x="7032104" y="1560576"/>
            <a:ext cx="460851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 fine di realizzare le messe in evidenza relative ai pixel ai corner e ai pixel </a:t>
            </a:r>
            <a:r>
              <a:rPr lang="it-IT" sz="2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lateral</a:t>
            </a: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vengono impiegati due </a:t>
            </a:r>
            <a:r>
              <a:rPr lang="it-IT" sz="2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adder</a:t>
            </a: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2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tree</a:t>
            </a: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quattro ingressi.</a:t>
            </a:r>
          </a:p>
          <a:p>
            <a:endParaRPr lang="it-IT" sz="24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Gli </a:t>
            </a:r>
            <a:r>
              <a:rPr lang="it-IT" sz="2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adder</a:t>
            </a: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2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tree</a:t>
            </a: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vengono realizzati su due livelli RCA di tipo </a:t>
            </a:r>
            <a:r>
              <a:rPr lang="it-IT" sz="2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Unsigned</a:t>
            </a: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 sceglie di realizzare tre stadi Pipeline posizionati rispettivamente in input, nello stadio intermedio e in output.</a:t>
            </a:r>
            <a:endParaRPr lang="it-IT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423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0564-17D5-E893-07B2-DEBBA312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01C752-6414-DCF5-2B6B-6AFDE2B1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 dirty="0">
                <a:effectLst/>
              </a:rPr>
            </a:br>
            <a:endParaRPr lang="it-IT" dirty="0"/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7DE10FD4-5265-1F93-3A01-D9CBFC2DB632}"/>
              </a:ext>
            </a:extLst>
          </p:cNvPr>
          <p:cNvSpPr txBox="1">
            <a:spLocks/>
          </p:cNvSpPr>
          <p:nvPr/>
        </p:nvSpPr>
        <p:spPr>
          <a:xfrm>
            <a:off x="0" y="54039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6000" dirty="0">
                <a:solidFill>
                  <a:schemeClr val="accent1"/>
                </a:solidFill>
              </a:rPr>
              <a:t>Moltiplicatore</a:t>
            </a:r>
            <a:r>
              <a:rPr lang="it-IT" sz="6000" dirty="0"/>
              <a:t> </a:t>
            </a:r>
            <a:r>
              <a:rPr lang="it-IT" sz="6000" dirty="0">
                <a:solidFill>
                  <a:schemeClr val="accent1"/>
                </a:solidFill>
              </a:rPr>
              <a:t>di</a:t>
            </a:r>
            <a:r>
              <a:rPr lang="it-IT" sz="6000" dirty="0"/>
              <a:t> </a:t>
            </a:r>
            <a:r>
              <a:rPr lang="it-IT" sz="6000" dirty="0">
                <a:solidFill>
                  <a:schemeClr val="accent1"/>
                </a:solidFill>
              </a:rPr>
              <a:t>Booth</a:t>
            </a:r>
          </a:p>
        </p:txBody>
      </p:sp>
      <p:pic>
        <p:nvPicPr>
          <p:cNvPr id="6" name="Immagine 5" descr="Immagine che contiene testo, Carattere, calligrafia, diagramma&#10;&#10;Il contenuto generato dall'IA potrebbe non essere corretto.">
            <a:extLst>
              <a:ext uri="{FF2B5EF4-FFF2-40B4-BE49-F238E27FC236}">
                <a16:creationId xmlns:a16="http://schemas.microsoft.com/office/drawing/2014/main" id="{B8DAA6F5-7AE8-00D2-7F7C-DDFA40FACE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2" y="1340768"/>
            <a:ext cx="1651558" cy="2036644"/>
          </a:xfrm>
          <a:prstGeom prst="rect">
            <a:avLst/>
          </a:prstGeom>
        </p:spPr>
      </p:pic>
      <p:pic>
        <p:nvPicPr>
          <p:cNvPr id="8" name="Immagine 7" descr="Immagine che contiene testo, diagramma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4C53CF5F-3F2A-FB35-838D-7BC91055C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340768"/>
            <a:ext cx="5680698" cy="479336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2E9AE87-FF4A-B039-064F-8F0DAE932DF4}"/>
              </a:ext>
            </a:extLst>
          </p:cNvPr>
          <p:cNvSpPr txBox="1"/>
          <p:nvPr/>
        </p:nvSpPr>
        <p:spPr>
          <a:xfrm>
            <a:off x="6744072" y="3947572"/>
            <a:ext cx="4597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Il moltiplicatore implementa la codifica di Booth, al fine di ridurre il numero di prodotti parziali necessari.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56189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CE8B-B33D-4E74-E442-5CC0A872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EBF5C4-76C3-1DB5-6DAC-1A2EA98C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 dirty="0">
                <a:effectLst/>
              </a:rPr>
            </a:b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2C7532-D968-9933-C7F0-5AEFDECCA7D3}"/>
              </a:ext>
            </a:extLst>
          </p:cNvPr>
          <p:cNvSpPr txBox="1"/>
          <p:nvPr/>
        </p:nvSpPr>
        <p:spPr>
          <a:xfrm>
            <a:off x="0" y="404664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I possibili valori dei prodotti parziali vengono calcolati preventivamente dal blocco </a:t>
            </a:r>
            <a:r>
              <a:rPr lang="it-IT" sz="2400" i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PARTIAL SUM</a:t>
            </a:r>
            <a:endParaRPr lang="it-IT" sz="2400" i="1" dirty="0"/>
          </a:p>
        </p:txBody>
      </p:sp>
      <p:pic>
        <p:nvPicPr>
          <p:cNvPr id="3" name="Immagine 2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6FD088F4-071A-B509-B850-5B13869E24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73"/>
          <a:stretch/>
        </p:blipFill>
        <p:spPr bwMode="auto">
          <a:xfrm>
            <a:off x="231622" y="2308969"/>
            <a:ext cx="5864378" cy="22400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06081B2-7AA1-A4FC-41BE-F730813132C8}"/>
              </a:ext>
            </a:extLst>
          </p:cNvPr>
          <p:cNvSpPr txBox="1"/>
          <p:nvPr/>
        </p:nvSpPr>
        <p:spPr>
          <a:xfrm>
            <a:off x="6312024" y="1140215"/>
            <a:ext cx="5184576" cy="5543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2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</a:t>
            </a: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rappresenta l’estensione di A da 11 a 13 bit.</a:t>
            </a:r>
            <a:endParaRPr lang="it-IT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2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</a:t>
            </a: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rappresenta il doppio del valore di A. Tale operazione viene fatta sfruttando le proprietà dei numeri binari e quindi effettuando uno shift a sinistra sul moltiplicando.</a:t>
            </a:r>
            <a:endParaRPr lang="it-IT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2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</a:t>
            </a: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rappresenta il valore negato di A in complemento a due. L’operazione viene effettuata negando i bit di A e sommando 1 mediante RCA.</a:t>
            </a:r>
            <a:endParaRPr lang="it-IT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it-IT" sz="22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MDA</a:t>
            </a: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rappresenta il doppio del valore negato di A; dunque, ci si limita a effettuare uno shift a sinistra su MA.</a:t>
            </a:r>
            <a:endParaRPr lang="it-IT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000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443A-384B-8AE0-68C5-37DAA05D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73F7E4-AEDE-DF5A-AFC3-C08D96FE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 dirty="0">
                <a:effectLst/>
              </a:rPr>
            </a:b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04625A-E0B4-3FCE-13B8-50269771B0C1}"/>
              </a:ext>
            </a:extLst>
          </p:cNvPr>
          <p:cNvSpPr txBox="1"/>
          <p:nvPr/>
        </p:nvSpPr>
        <p:spPr>
          <a:xfrm>
            <a:off x="239688" y="366881"/>
            <a:ext cx="11712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I prodotti parziali devono essere tra di loro allineati a seconda del peso assunto dal codice, dunque, si effettua un’operazione di shift ed estensione col segno</a:t>
            </a:r>
            <a:endParaRPr lang="it-IT" sz="2400" i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1398120-7327-4876-EB2D-6D24E5C87C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04" y="1661430"/>
            <a:ext cx="10384592" cy="353513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FBF35D-5817-055B-6118-FE1A94EBBDF2}"/>
              </a:ext>
            </a:extLst>
          </p:cNvPr>
          <p:cNvSpPr txBox="1"/>
          <p:nvPr/>
        </p:nvSpPr>
        <p:spPr>
          <a:xfrm>
            <a:off x="239688" y="5371830"/>
            <a:ext cx="11712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I prodotti parziali possono essere ora sommati mediante un </a:t>
            </a:r>
            <a:r>
              <a:rPr lang="it-IT" sz="24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adder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</a:t>
            </a:r>
            <a:r>
              <a:rPr lang="it-IT" sz="24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tree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a quattro ingressi di tipo </a:t>
            </a:r>
            <a:r>
              <a:rPr lang="it-IT" sz="2400" dirty="0" err="1">
                <a:latin typeface="Calibri" panose="020F0502020204030204" pitchFamily="34" charset="0"/>
                <a:ea typeface="Aptos" panose="020B0004020202020204" pitchFamily="34" charset="0"/>
              </a:rPr>
              <a:t>s</a:t>
            </a:r>
            <a:r>
              <a:rPr lang="it-IT" sz="24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igned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.</a:t>
            </a: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895735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E187-8C69-DCC3-FD9C-BD8A1B10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9F1888-BE55-74B0-66AD-73ECDB1E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/>
          <a:p>
            <a:pPr>
              <a:spcAft>
                <a:spcPts val="800"/>
              </a:spcAft>
            </a:pPr>
            <a:br>
              <a:rPr lang="it-IT" kern="100" dirty="0">
                <a:effectLst/>
              </a:rPr>
            </a:br>
            <a:endParaRPr lang="it-IT" dirty="0"/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5CDB6622-5113-41F5-EAE7-1FCBF223C21A}"/>
              </a:ext>
            </a:extLst>
          </p:cNvPr>
          <p:cNvSpPr txBox="1">
            <a:spLocks/>
          </p:cNvSpPr>
          <p:nvPr/>
        </p:nvSpPr>
        <p:spPr>
          <a:xfrm>
            <a:off x="0" y="54039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6000" dirty="0" err="1">
                <a:solidFill>
                  <a:schemeClr val="accent1"/>
                </a:solidFill>
              </a:rPr>
              <a:t>Adder</a:t>
            </a:r>
            <a:r>
              <a:rPr lang="it-IT" sz="6000" dirty="0">
                <a:solidFill>
                  <a:schemeClr val="accent1"/>
                </a:solidFill>
              </a:rPr>
              <a:t> Finale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95A09DA-FC4E-21D9-4C3F-5BA87386D428}"/>
              </a:ext>
            </a:extLst>
          </p:cNvPr>
          <p:cNvSpPr txBox="1"/>
          <p:nvPr/>
        </p:nvSpPr>
        <p:spPr>
          <a:xfrm>
            <a:off x="5663952" y="1196752"/>
            <a:ext cx="5101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I risultati ottenuti dai tre moltiplicatori vengono infine sommati tramite un </a:t>
            </a:r>
            <a:r>
              <a:rPr lang="it-IT" sz="24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adder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</a:t>
            </a:r>
            <a:r>
              <a:rPr lang="it-IT" sz="24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tree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a 3 ingressi </a:t>
            </a:r>
            <a:r>
              <a:rPr lang="it-IT" sz="24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Signed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, il cui output restituirà il pixel filtrato.</a:t>
            </a:r>
          </a:p>
        </p:txBody>
      </p:sp>
      <p:pic>
        <p:nvPicPr>
          <p:cNvPr id="5" name="Immagine 4" descr="Immagine che contiene diagramma, Disegno tecnico, Piano, schizzo&#10;&#10;Il contenuto generato dall'IA potrebbe non essere corretto.">
            <a:extLst>
              <a:ext uri="{FF2B5EF4-FFF2-40B4-BE49-F238E27FC236}">
                <a16:creationId xmlns:a16="http://schemas.microsoft.com/office/drawing/2014/main" id="{4D9FBF7C-2420-D7B6-F5C0-5BA3D2CA6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340768"/>
            <a:ext cx="4896544" cy="523423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B3C186-213A-09EF-E9B2-BB77D81889C7}"/>
              </a:ext>
            </a:extLst>
          </p:cNvPr>
          <p:cNvSpPr txBox="1"/>
          <p:nvPr/>
        </p:nvSpPr>
        <p:spPr>
          <a:xfrm>
            <a:off x="5663952" y="2924944"/>
            <a:ext cx="5688632" cy="3556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latenza totale introdotta dal </a:t>
            </a:r>
            <a:r>
              <a:rPr lang="it-IT" sz="22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convolutore</a:t>
            </a:r>
            <a:r>
              <a:rPr lang="it-IT" sz="22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seguito degli stadi PIPE è di 12 colpi di clock:</a:t>
            </a:r>
            <a:endParaRPr lang="it-IT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3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colpo di clock dovuto ai registri dello stadio PIPE controllato dall’FSM</a:t>
            </a:r>
            <a:endParaRPr lang="it-IT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3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 colpi di clock dovuti agli </a:t>
            </a:r>
            <a:r>
              <a:rPr lang="it-IT" sz="23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adder</a:t>
            </a:r>
            <a:r>
              <a:rPr lang="it-IT" sz="23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per le messe in evidenza.</a:t>
            </a:r>
            <a:endParaRPr lang="it-IT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it-IT" sz="23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Cinque colpi di clock dovuti al moltiplicatore.</a:t>
            </a:r>
            <a:endParaRPr lang="it-IT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it-IT" sz="23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 colpi di clock dovuti all’</a:t>
            </a:r>
            <a:r>
              <a:rPr lang="it-IT" sz="23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adder</a:t>
            </a:r>
            <a:r>
              <a:rPr lang="it-IT" sz="23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finale.</a:t>
            </a:r>
            <a:endParaRPr lang="it-IT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40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99EB-7E46-9992-09EF-9FD0828A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024A701F-53E3-74F4-68C8-616559705D9C}"/>
              </a:ext>
            </a:extLst>
          </p:cNvPr>
          <p:cNvSpPr txBox="1">
            <a:spLocks/>
          </p:cNvSpPr>
          <p:nvPr/>
        </p:nvSpPr>
        <p:spPr>
          <a:xfrm>
            <a:off x="39456" y="93663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6000" dirty="0">
                <a:solidFill>
                  <a:schemeClr val="accent1"/>
                </a:solidFill>
              </a:rPr>
              <a:t>FSM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75D5E2-492D-4C8F-A69E-26A6EF4D446C}"/>
              </a:ext>
            </a:extLst>
          </p:cNvPr>
          <p:cNvSpPr txBox="1"/>
          <p:nvPr/>
        </p:nvSpPr>
        <p:spPr>
          <a:xfrm>
            <a:off x="6498112" y="1572792"/>
            <a:ext cx="53285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La macchina si occupa di controllare i vari blocchi del sistema e gestire la temporizzazione.</a:t>
            </a:r>
            <a:b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</a:b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Riceve in ingresso il segnale di </a:t>
            </a:r>
            <a:r>
              <a:rPr lang="it-IT" sz="2400" i="1" dirty="0" err="1">
                <a:latin typeface="Calibri" panose="020F0502020204030204" pitchFamily="34" charset="0"/>
                <a:ea typeface="Aptos" panose="020B0004020202020204" pitchFamily="34" charset="0"/>
              </a:rPr>
              <a:t>V</a:t>
            </a:r>
            <a:r>
              <a:rPr lang="it-IT" sz="2400" i="1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alid_</a:t>
            </a:r>
            <a:r>
              <a:rPr lang="it-IT" sz="2400" i="1" dirty="0" err="1">
                <a:latin typeface="Calibri" panose="020F0502020204030204" pitchFamily="34" charset="0"/>
                <a:ea typeface="Aptos" panose="020B0004020202020204" pitchFamily="34" charset="0"/>
              </a:rPr>
              <a:t>In</a:t>
            </a:r>
            <a:r>
              <a:rPr lang="it-IT" sz="2400" i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e i segnali di </a:t>
            </a:r>
            <a:r>
              <a:rPr lang="it-IT" sz="24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threshold</a:t>
            </a:r>
            <a:r>
              <a:rPr lang="it-IT" sz="24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provenienti dal contatore.</a:t>
            </a:r>
          </a:p>
          <a:p>
            <a:endParaRPr lang="it-IT" sz="24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r>
              <a:rPr lang="it-IT" sz="2400" dirty="0">
                <a:latin typeface="Calibri" panose="020F0502020204030204" pitchFamily="34" charset="0"/>
                <a:ea typeface="Aptos" panose="020B0004020202020204" pitchFamily="34" charset="0"/>
              </a:rPr>
              <a:t>Fornisce in out i segnali di </a:t>
            </a:r>
            <a:r>
              <a:rPr lang="it-IT" sz="2400" i="1" dirty="0" err="1">
                <a:latin typeface="Calibri" panose="020F0502020204030204" pitchFamily="34" charset="0"/>
                <a:ea typeface="Aptos" panose="020B0004020202020204" pitchFamily="34" charset="0"/>
              </a:rPr>
              <a:t>Counter_Enable</a:t>
            </a:r>
            <a:r>
              <a:rPr lang="it-IT" sz="2400" i="1" dirty="0">
                <a:latin typeface="Calibri" panose="020F0502020204030204" pitchFamily="34" charset="0"/>
                <a:ea typeface="Aptos" panose="020B0004020202020204" pitchFamily="34" charset="0"/>
              </a:rPr>
              <a:t>, </a:t>
            </a:r>
            <a:r>
              <a:rPr lang="it-IT" sz="2400" i="1" dirty="0" err="1">
                <a:latin typeface="Calibri" panose="020F0502020204030204" pitchFamily="34" charset="0"/>
                <a:ea typeface="Aptos" panose="020B0004020202020204" pitchFamily="34" charset="0"/>
              </a:rPr>
              <a:t>DataCtrl</a:t>
            </a:r>
            <a:r>
              <a:rPr lang="it-IT" sz="2400" i="1" dirty="0">
                <a:latin typeface="Calibri" panose="020F0502020204030204" pitchFamily="34" charset="0"/>
                <a:ea typeface="Aptos" panose="020B0004020202020204" pitchFamily="34" charset="0"/>
              </a:rPr>
              <a:t>, </a:t>
            </a:r>
            <a:r>
              <a:rPr lang="it-IT" sz="2400" i="1" dirty="0" err="1">
                <a:latin typeface="Calibri" panose="020F0502020204030204" pitchFamily="34" charset="0"/>
                <a:ea typeface="Aptos" panose="020B0004020202020204" pitchFamily="34" charset="0"/>
              </a:rPr>
              <a:t>Valid_Out</a:t>
            </a:r>
            <a:r>
              <a:rPr lang="it-IT" sz="2400" i="1" dirty="0">
                <a:latin typeface="Calibri" panose="020F0502020204030204" pitchFamily="34" charset="0"/>
                <a:ea typeface="Aptos" panose="020B0004020202020204" pitchFamily="34" charset="0"/>
              </a:rPr>
              <a:t>, </a:t>
            </a:r>
            <a:r>
              <a:rPr lang="it-IT" sz="2400" i="1" dirty="0" err="1">
                <a:latin typeface="Calibri" panose="020F0502020204030204" pitchFamily="34" charset="0"/>
                <a:ea typeface="Aptos" panose="020B0004020202020204" pitchFamily="34" charset="0"/>
              </a:rPr>
              <a:t>Image_Elaborated</a:t>
            </a:r>
            <a:endParaRPr lang="it-IT" sz="24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</p:txBody>
      </p:sp>
      <p:pic>
        <p:nvPicPr>
          <p:cNvPr id="4" name="Immagine 3" descr="Immagine che contiene testo, diagramma, cerchio, disegno&#10;&#10;Il contenuto generato dall'IA potrebbe non essere corretto.">
            <a:extLst>
              <a:ext uri="{FF2B5EF4-FFF2-40B4-BE49-F238E27FC236}">
                <a16:creationId xmlns:a16="http://schemas.microsoft.com/office/drawing/2014/main" id="{DCF13A8B-D691-F9E3-8EB0-588E75BE9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196752"/>
            <a:ext cx="6154880" cy="478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31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F393-FA9C-F863-CFB3-6BD46F10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diagramma, cerchio, disegno&#10;&#10;Il contenuto generato dall'IA potrebbe non essere corretto.">
            <a:extLst>
              <a:ext uri="{FF2B5EF4-FFF2-40B4-BE49-F238E27FC236}">
                <a16:creationId xmlns:a16="http://schemas.microsoft.com/office/drawing/2014/main" id="{B8418065-7B52-DF3D-A6C0-294558A68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78" y="1052736"/>
            <a:ext cx="5422699" cy="4270375"/>
          </a:xfrm>
          <a:prstGeom prst="rect">
            <a:avLst/>
          </a:prstGeom>
          <a:noFill/>
        </p:spPr>
      </p:pic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AEF20947-3F79-C019-2C27-F13406043C90}"/>
              </a:ext>
            </a:extLst>
          </p:cNvPr>
          <p:cNvSpPr txBox="1">
            <a:spLocks/>
          </p:cNvSpPr>
          <p:nvPr/>
        </p:nvSpPr>
        <p:spPr>
          <a:xfrm>
            <a:off x="6096000" y="548680"/>
            <a:ext cx="5662321" cy="6120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it-IT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Idle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 macchina si trova nello stato di riposo</a:t>
            </a:r>
          </a:p>
          <a:p>
            <a:pPr>
              <a:spcAft>
                <a:spcPts val="600"/>
              </a:spcAft>
            </a:pPr>
            <a:r>
              <a:rPr lang="it-IT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 Setup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macchina mantiene questo stato fino alla creazione della prima finestra valida nella buffer line.</a:t>
            </a:r>
          </a:p>
          <a:p>
            <a:pPr>
              <a:spcAft>
                <a:spcPts val="600"/>
              </a:spcAft>
            </a:pPr>
            <a:r>
              <a:rPr lang="it-IT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Elaboration</a:t>
            </a:r>
            <a:r>
              <a:rPr lang="it-IT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Setup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macchina mantiene questo stato finché non si esaurisce la latenza  del </a:t>
            </a:r>
            <a:r>
              <a:rPr lang="it-IT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convolutore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(12 colpi di clock). Non sono ancora prodotti pixel filtrati </a:t>
            </a:r>
            <a:r>
              <a:rPr lang="it-IT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it-IT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Valid_Out</a:t>
            </a:r>
            <a:r>
              <a:rPr lang="it-IT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‘0’)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it-IT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Elaboration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macchina mantiene questo stato fin quando non vengono elaborati tutti i 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ixel                        dell’immagine. Vengono prodotti dati validi </a:t>
            </a:r>
            <a:r>
              <a:rPr lang="it-IT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it-IT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Valid_Out</a:t>
            </a:r>
            <a:r>
              <a:rPr lang="it-IT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‘1’)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it-IT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it-IT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alla ricezione dell’ultimo pixel, l’elaborazione è terminata </a:t>
            </a:r>
            <a:r>
              <a:rPr lang="it-IT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it-IT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Image_Elaborated</a:t>
            </a:r>
            <a:r>
              <a:rPr lang="it-IT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‘1’)</a:t>
            </a:r>
            <a:r>
              <a:rPr lang="it-IT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it-IT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passa allo stato di IDLE in attesa della prossima immagine da elaborare.</a:t>
            </a:r>
            <a:endParaRPr lang="it-IT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1300" i="1" dirty="0"/>
          </a:p>
        </p:txBody>
      </p:sp>
    </p:spTree>
    <p:extLst>
      <p:ext uri="{BB962C8B-B14F-4D97-AF65-F5344CB8AC3E}">
        <p14:creationId xmlns:p14="http://schemas.microsoft.com/office/powerpoint/2010/main" val="107068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D1D4-259E-DB39-D34A-CCF36DA1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D3BADC19-3873-1F01-B423-E50EFFC22C77}"/>
              </a:ext>
            </a:extLst>
          </p:cNvPr>
          <p:cNvSpPr txBox="1">
            <a:spLocks/>
          </p:cNvSpPr>
          <p:nvPr/>
        </p:nvSpPr>
        <p:spPr>
          <a:xfrm>
            <a:off x="39456" y="93663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6000" dirty="0">
                <a:solidFill>
                  <a:schemeClr val="accent1"/>
                </a:solidFill>
              </a:rPr>
              <a:t>TESTBENCH BEHAVIORAL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D03154C-0EFD-97E2-C01E-952D35D1A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9"/>
          <a:stretch/>
        </p:blipFill>
        <p:spPr bwMode="auto">
          <a:xfrm>
            <a:off x="335360" y="998599"/>
            <a:ext cx="6120680" cy="290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 descr="Immagine che contiene schermata, linea, Policromia&#10;&#10;Il contenuto generato dall'IA potrebbe non essere corretto.">
            <a:extLst>
              <a:ext uri="{FF2B5EF4-FFF2-40B4-BE49-F238E27FC236}">
                <a16:creationId xmlns:a16="http://schemas.microsoft.com/office/drawing/2014/main" id="{AD67D043-84A2-4D4E-C0BD-A57A4951F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197" y="4005064"/>
            <a:ext cx="6797795" cy="261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50E5996-851C-AE0C-8EFE-9C68778169DB}"/>
              </a:ext>
            </a:extLst>
          </p:cNvPr>
          <p:cNvSpPr txBox="1"/>
          <p:nvPr/>
        </p:nvSpPr>
        <p:spPr>
          <a:xfrm>
            <a:off x="6901315" y="1925469"/>
            <a:ext cx="481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IDLE -&gt;  WINDOW SETUP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78FE77-A2D5-FE6C-7D4D-2C3BA88ED48C}"/>
              </a:ext>
            </a:extLst>
          </p:cNvPr>
          <p:cNvSpPr txBox="1"/>
          <p:nvPr/>
        </p:nvSpPr>
        <p:spPr>
          <a:xfrm>
            <a:off x="335360" y="4972933"/>
            <a:ext cx="5591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WINDOW SETUP -&gt; ELABORATION SETUP</a:t>
            </a:r>
          </a:p>
        </p:txBody>
      </p:sp>
    </p:spTree>
    <p:extLst>
      <p:ext uri="{BB962C8B-B14F-4D97-AF65-F5344CB8AC3E}">
        <p14:creationId xmlns:p14="http://schemas.microsoft.com/office/powerpoint/2010/main" val="3795785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BAE9-A7D3-274E-C2D3-678F8312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7BE991B6-C4B9-0040-7F56-3830B1C2CC73}"/>
              </a:ext>
            </a:extLst>
          </p:cNvPr>
          <p:cNvSpPr txBox="1"/>
          <p:nvPr/>
        </p:nvSpPr>
        <p:spPr>
          <a:xfrm>
            <a:off x="432638" y="4885129"/>
            <a:ext cx="3297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ELABORATION -&gt;  FINAL</a:t>
            </a:r>
          </a:p>
        </p:txBody>
      </p:sp>
      <p:pic>
        <p:nvPicPr>
          <p:cNvPr id="2" name="Immagine 1" descr="Immagine che contiene schermata, Policromia&#10;&#10;Il contenuto generato dall'IA potrebbe non essere corretto.">
            <a:extLst>
              <a:ext uri="{FF2B5EF4-FFF2-40B4-BE49-F238E27FC236}">
                <a16:creationId xmlns:a16="http://schemas.microsoft.com/office/drawing/2014/main" id="{D4F6C85E-23C8-78F7-B283-F721D2AA9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7" y="260648"/>
            <a:ext cx="7440817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66F59C-95AA-F5E9-1418-44A48DDA2250}"/>
              </a:ext>
            </a:extLst>
          </p:cNvPr>
          <p:cNvSpPr txBox="1"/>
          <p:nvPr/>
        </p:nvSpPr>
        <p:spPr>
          <a:xfrm>
            <a:off x="7531153" y="1628800"/>
            <a:ext cx="46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ELABORATION SETUP -&gt; ELABORATION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FAB15DB-56DF-9C22-E352-D4296F1205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566" y="3662667"/>
            <a:ext cx="7778098" cy="28450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2597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74FF-63BB-E95B-E627-751D0663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CF10A46E-EF57-7E48-F468-D0207F3CD887}"/>
              </a:ext>
            </a:extLst>
          </p:cNvPr>
          <p:cNvSpPr txBox="1">
            <a:spLocks/>
          </p:cNvSpPr>
          <p:nvPr/>
        </p:nvSpPr>
        <p:spPr>
          <a:xfrm>
            <a:off x="39456" y="93663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4800" dirty="0">
                <a:solidFill>
                  <a:schemeClr val="accent1"/>
                </a:solidFill>
              </a:rPr>
              <a:t>SINTESI E IMPLEMENTAZIONE:               </a:t>
            </a:r>
            <a:r>
              <a:rPr lang="it-IT" sz="4800" i="1" u="sng" dirty="0">
                <a:solidFill>
                  <a:schemeClr val="accent1"/>
                </a:solidFill>
              </a:rPr>
              <a:t>DEFAULT</a:t>
            </a:r>
            <a:r>
              <a:rPr lang="it-IT" sz="4800" dirty="0">
                <a:solidFill>
                  <a:schemeClr val="accent1"/>
                </a:solidFill>
              </a:rPr>
              <a:t> (</a:t>
            </a:r>
            <a:r>
              <a:rPr lang="it-IT" sz="4800" dirty="0" err="1">
                <a:solidFill>
                  <a:schemeClr val="accent1"/>
                </a:solidFill>
              </a:rPr>
              <a:t>clk</a:t>
            </a:r>
            <a:r>
              <a:rPr lang="it-IT" sz="4800" dirty="0">
                <a:solidFill>
                  <a:schemeClr val="accent1"/>
                </a:solidFill>
              </a:rPr>
              <a:t>: 5ns) 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CC3E37C-1335-68FD-AFF7-EDD38FAC3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42" y="1611648"/>
            <a:ext cx="611949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84C1048-1A32-8AEB-3CC5-F29C28078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729" y="2492896"/>
            <a:ext cx="6119495" cy="2440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BEB468F-73AB-3D86-9BA3-F9DEEEB12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42" y="3537012"/>
            <a:ext cx="5943458" cy="30123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5979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285D-0810-6C5C-311E-803EAEE1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02402782-D6AF-3B1F-FD50-6021A5A85A63}"/>
              </a:ext>
            </a:extLst>
          </p:cNvPr>
          <p:cNvSpPr txBox="1">
            <a:spLocks/>
          </p:cNvSpPr>
          <p:nvPr/>
        </p:nvSpPr>
        <p:spPr>
          <a:xfrm>
            <a:off x="39456" y="93663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4800" dirty="0">
                <a:solidFill>
                  <a:schemeClr val="accent1"/>
                </a:solidFill>
              </a:rPr>
              <a:t>SINTESI E IMPLEMENTAZIONE: </a:t>
            </a:r>
            <a:r>
              <a:rPr lang="it-IT" sz="4800" i="1" u="sng" dirty="0">
                <a:solidFill>
                  <a:schemeClr val="accent1"/>
                </a:solidFill>
              </a:rPr>
              <a:t>OTTIMIZZAZIONE POTENZA </a:t>
            </a:r>
            <a:r>
              <a:rPr lang="it-IT" sz="4800" dirty="0">
                <a:solidFill>
                  <a:schemeClr val="accent1"/>
                </a:solidFill>
              </a:rPr>
              <a:t>(</a:t>
            </a:r>
            <a:r>
              <a:rPr lang="it-IT" sz="4800" dirty="0" err="1">
                <a:solidFill>
                  <a:schemeClr val="accent1"/>
                </a:solidFill>
              </a:rPr>
              <a:t>clk</a:t>
            </a:r>
            <a:r>
              <a:rPr lang="it-IT" sz="4800" dirty="0">
                <a:solidFill>
                  <a:schemeClr val="accent1"/>
                </a:solidFill>
              </a:rPr>
              <a:t>: 5.3ns) 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F94EA9E-6325-980E-4A20-FB79784EB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844824"/>
            <a:ext cx="6878955" cy="219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E02F3B3-ACAC-5F4C-5DF3-128D1C50B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46" y="3423280"/>
            <a:ext cx="6506210" cy="27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2B917FF-0912-5165-50E1-F4A9624E3404}"/>
              </a:ext>
            </a:extLst>
          </p:cNvPr>
          <p:cNvSpPr txBox="1"/>
          <p:nvPr/>
        </p:nvSpPr>
        <p:spPr>
          <a:xfrm>
            <a:off x="407368" y="4519512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Sintesi</a:t>
            </a:r>
            <a:r>
              <a:rPr lang="it-IT" dirty="0"/>
              <a:t>: </a:t>
            </a:r>
            <a:r>
              <a:rPr lang="it-IT" sz="1800" i="1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Flow_AreaOptimized_High</a:t>
            </a:r>
            <a:r>
              <a:rPr lang="it-IT" i="1" dirty="0">
                <a:latin typeface="Calibri" panose="020F0502020204030204" pitchFamily="34" charset="0"/>
                <a:ea typeface="Aptos" panose="020B0004020202020204" pitchFamily="34" charset="0"/>
              </a:rPr>
              <a:t>.</a:t>
            </a:r>
          </a:p>
          <a:p>
            <a:endParaRPr lang="it-IT" i="1" dirty="0">
              <a:latin typeface="Calibri" panose="020F0502020204030204" pitchFamily="34" charset="0"/>
              <a:ea typeface="Aptos" panose="020B0004020202020204" pitchFamily="34" charset="0"/>
            </a:endParaRPr>
          </a:p>
          <a:p>
            <a:r>
              <a:rPr lang="it-IT" b="1" dirty="0">
                <a:latin typeface="Calibri" panose="020F0502020204030204" pitchFamily="34" charset="0"/>
                <a:ea typeface="Aptos" panose="020B0004020202020204" pitchFamily="34" charset="0"/>
              </a:rPr>
              <a:t>Implementazione</a:t>
            </a:r>
            <a:r>
              <a:rPr lang="it-IT" dirty="0">
                <a:latin typeface="Calibri" panose="020F0502020204030204" pitchFamily="34" charset="0"/>
                <a:ea typeface="Aptos" panose="020B0004020202020204" pitchFamily="34" charset="0"/>
              </a:rPr>
              <a:t>: </a:t>
            </a:r>
            <a:r>
              <a:rPr lang="it-IT" sz="1800" i="1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Power_ExploreArea</a:t>
            </a:r>
            <a:r>
              <a:rPr lang="it-IT" sz="1800" i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.</a:t>
            </a:r>
            <a:endParaRPr lang="it-IT" i="1" dirty="0">
              <a:latin typeface="Calibri" panose="020F0502020204030204" pitchFamily="34" charset="0"/>
              <a:ea typeface="Aptos" panose="020B000402020202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4940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C4BB-8EE6-C513-50A5-F366D38F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AB3053FA-D953-61A8-E3E2-5CC584D94649}"/>
              </a:ext>
            </a:extLst>
          </p:cNvPr>
          <p:cNvSpPr txBox="1">
            <a:spLocks/>
          </p:cNvSpPr>
          <p:nvPr/>
        </p:nvSpPr>
        <p:spPr>
          <a:xfrm>
            <a:off x="39456" y="93663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4800" dirty="0">
                <a:solidFill>
                  <a:schemeClr val="accent1"/>
                </a:solidFill>
              </a:rPr>
              <a:t>SINTESI E IMPLEMENTAZIONE: </a:t>
            </a:r>
            <a:r>
              <a:rPr lang="it-IT" sz="4800" i="1" u="sng" dirty="0">
                <a:solidFill>
                  <a:schemeClr val="accent1"/>
                </a:solidFill>
              </a:rPr>
              <a:t>OTTIMIZZAZIONE FREQUENZA </a:t>
            </a:r>
            <a:r>
              <a:rPr lang="it-IT" sz="4800" dirty="0">
                <a:solidFill>
                  <a:schemeClr val="accent1"/>
                </a:solidFill>
              </a:rPr>
              <a:t>(</a:t>
            </a:r>
            <a:r>
              <a:rPr lang="it-IT" sz="4800" dirty="0" err="1">
                <a:solidFill>
                  <a:schemeClr val="accent1"/>
                </a:solidFill>
              </a:rPr>
              <a:t>clk</a:t>
            </a:r>
            <a:r>
              <a:rPr lang="it-IT" sz="4800" dirty="0">
                <a:solidFill>
                  <a:schemeClr val="accent1"/>
                </a:solidFill>
              </a:rPr>
              <a:t>: 4.6ns) 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9F2EA62-179D-8F46-F597-92AE921A8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0" y="1745456"/>
            <a:ext cx="7134860" cy="143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54CA4EAB-28E4-72CC-9842-C1655638D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3179921"/>
            <a:ext cx="6192688" cy="32030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9D659D-B35E-7C1B-CCE7-3625A7B496F2}"/>
              </a:ext>
            </a:extLst>
          </p:cNvPr>
          <p:cNvSpPr txBox="1"/>
          <p:nvPr/>
        </p:nvSpPr>
        <p:spPr>
          <a:xfrm>
            <a:off x="291143" y="4181303"/>
            <a:ext cx="504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Sintesi</a:t>
            </a:r>
            <a:r>
              <a:rPr lang="it-IT" dirty="0"/>
              <a:t>: </a:t>
            </a:r>
            <a:r>
              <a:rPr lang="it-IT" sz="1800" i="1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Flow_PerfOptimized_High</a:t>
            </a:r>
            <a:r>
              <a:rPr lang="it-IT" i="1" dirty="0">
                <a:latin typeface="Calibri" panose="020F0502020204030204" pitchFamily="34" charset="0"/>
                <a:ea typeface="Aptos" panose="020B0004020202020204" pitchFamily="34" charset="0"/>
              </a:rPr>
              <a:t>.</a:t>
            </a:r>
          </a:p>
          <a:p>
            <a:endParaRPr lang="it-IT" i="1" dirty="0">
              <a:latin typeface="Calibri" panose="020F0502020204030204" pitchFamily="34" charset="0"/>
              <a:ea typeface="Aptos" panose="020B0004020202020204" pitchFamily="34" charset="0"/>
            </a:endParaRPr>
          </a:p>
          <a:p>
            <a:r>
              <a:rPr lang="it-IT" b="1" dirty="0">
                <a:latin typeface="Calibri" panose="020F0502020204030204" pitchFamily="34" charset="0"/>
                <a:ea typeface="Aptos" panose="020B0004020202020204" pitchFamily="34" charset="0"/>
              </a:rPr>
              <a:t>Implementazione</a:t>
            </a:r>
            <a:r>
              <a:rPr lang="it-IT" dirty="0">
                <a:latin typeface="Calibri" panose="020F0502020204030204" pitchFamily="34" charset="0"/>
                <a:ea typeface="Aptos" panose="020B0004020202020204" pitchFamily="34" charset="0"/>
              </a:rPr>
              <a:t>: </a:t>
            </a:r>
            <a:r>
              <a:rPr lang="it-IT" sz="1800" i="1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Performance_ExtraTimingOpt</a:t>
            </a:r>
            <a:r>
              <a:rPr lang="it-IT" sz="1800" i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.</a:t>
            </a:r>
            <a:endParaRPr lang="it-IT" i="1" dirty="0">
              <a:latin typeface="Calibri" panose="020F0502020204030204" pitchFamily="34" charset="0"/>
              <a:ea typeface="Aptos" panose="020B000402020202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405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0365F-A5F3-0CC9-ED5C-1A89E019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78AF7495-A7BD-8D95-3FCB-F0291A3FC3FF}"/>
              </a:ext>
            </a:extLst>
          </p:cNvPr>
          <p:cNvSpPr txBox="1">
            <a:spLocks/>
          </p:cNvSpPr>
          <p:nvPr/>
        </p:nvSpPr>
        <p:spPr>
          <a:xfrm>
            <a:off x="39456" y="93663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4800" dirty="0">
                <a:solidFill>
                  <a:schemeClr val="accent1"/>
                </a:solidFill>
              </a:rPr>
              <a:t>TESTBENCH POST-IMPLEMENTATION</a:t>
            </a:r>
          </a:p>
        </p:txBody>
      </p:sp>
      <p:pic>
        <p:nvPicPr>
          <p:cNvPr id="2" name="Immagine 1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20AECCC5-9C00-24D7-9B6B-C0486656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99"/>
          <a:stretch/>
        </p:blipFill>
        <p:spPr bwMode="auto">
          <a:xfrm>
            <a:off x="110260" y="1052736"/>
            <a:ext cx="5294418" cy="271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269AF93-4E52-E0C9-0E9F-D4ABA9A1E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60" y="1052736"/>
            <a:ext cx="6093807" cy="2762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magine 7" descr="Immagine che contiene schermata, testo, circuito&#10;&#10;Il contenuto generato dall'IA potrebbe non essere corretto.">
            <a:extLst>
              <a:ext uri="{FF2B5EF4-FFF2-40B4-BE49-F238E27FC236}">
                <a16:creationId xmlns:a16="http://schemas.microsoft.com/office/drawing/2014/main" id="{06183762-3781-9DC4-0EB7-FD9BA8351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4077072"/>
            <a:ext cx="7032886" cy="23762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1518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9AA0-A7EA-6F81-D5EF-F619F858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365A15AB-BD98-8058-B9BF-5E6DC09A3089}"/>
              </a:ext>
            </a:extLst>
          </p:cNvPr>
          <p:cNvSpPr txBox="1">
            <a:spLocks/>
          </p:cNvSpPr>
          <p:nvPr/>
        </p:nvSpPr>
        <p:spPr>
          <a:xfrm>
            <a:off x="0" y="46924"/>
            <a:ext cx="12192000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4800" dirty="0">
                <a:solidFill>
                  <a:schemeClr val="accent1"/>
                </a:solidFill>
              </a:rPr>
              <a:t>MATLAB vs VIVADO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9B711DB-FA78-C404-955C-8B17777A7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90" t="13834" r="9729" b="23517"/>
          <a:stretch/>
        </p:blipFill>
        <p:spPr>
          <a:xfrm>
            <a:off x="1268764" y="1121927"/>
            <a:ext cx="2952328" cy="114649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4D16EDD-7C76-7536-20DE-B6DB803D9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35" y="2345035"/>
            <a:ext cx="4807585" cy="16103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8C2A536-CF74-8685-D119-F7BCD9517DCC}"/>
              </a:ext>
            </a:extLst>
          </p:cNvPr>
          <p:cNvSpPr txBox="1"/>
          <p:nvPr/>
        </p:nvSpPr>
        <p:spPr>
          <a:xfrm>
            <a:off x="119336" y="4149080"/>
            <a:ext cx="4807585" cy="296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it-IT" sz="20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Convoluzione di </a:t>
            </a:r>
            <a:r>
              <a:rPr lang="it-IT" sz="20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Vivado</a:t>
            </a:r>
            <a:r>
              <a:rPr lang="it-IT" sz="20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it-IT" sz="20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PSNR: 10.0471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it-IT" sz="20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SNR: 9.0010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it-IT" sz="20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Convoluzione di MATLAB: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it-IT" sz="20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PSNR: 10.0471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it-IT" sz="20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SNR: 9.0010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53821A1-7998-3A24-3DE6-0277B6910775}"/>
              </a:ext>
            </a:extLst>
          </p:cNvPr>
          <p:cNvSpPr txBox="1"/>
          <p:nvPr/>
        </p:nvSpPr>
        <p:spPr>
          <a:xfrm>
            <a:off x="1916835" y="667456"/>
            <a:ext cx="1656184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it-IT" sz="1800" b="1" u="sng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SHARPENING</a:t>
            </a:r>
            <a:endParaRPr lang="it-IT" sz="1800" b="1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0C64E2A-0C72-AF17-50E9-819FFB6646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09"/>
          <a:stretch/>
        </p:blipFill>
        <p:spPr>
          <a:xfrm>
            <a:off x="8328248" y="1085234"/>
            <a:ext cx="2772594" cy="121988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3992426-5C4D-E063-E122-23D2065955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20" y="2345035"/>
            <a:ext cx="4807586" cy="16471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A61D22F-570D-7A77-0D0A-C88C26CF29F5}"/>
              </a:ext>
            </a:extLst>
          </p:cNvPr>
          <p:cNvSpPr txBox="1"/>
          <p:nvPr/>
        </p:nvSpPr>
        <p:spPr>
          <a:xfrm>
            <a:off x="7680176" y="4032094"/>
            <a:ext cx="6094476" cy="255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it-IT" sz="20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Convoluzione di </a:t>
            </a:r>
            <a:r>
              <a:rPr lang="it-IT" sz="20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Vivado</a:t>
            </a:r>
            <a:r>
              <a:rPr lang="it-IT" sz="20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it-IT" sz="20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PSNR: 7.5962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it-IT" sz="20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SNR: 6.7721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it-IT" sz="20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Convoluzione di MATLAB: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it-IT" sz="20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PSNR: 7.5962</a:t>
            </a:r>
            <a:endParaRPr lang="it-IT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it-IT" sz="2000" i="1" dirty="0">
                <a:latin typeface="Calibri" panose="020F0502020204030204" pitchFamily="34" charset="0"/>
                <a:ea typeface="Aptos" panose="020B0004020202020204" pitchFamily="34" charset="0"/>
              </a:rPr>
              <a:t>       </a:t>
            </a:r>
            <a:r>
              <a:rPr lang="it-IT" sz="2000" i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SNR: 6.7721</a:t>
            </a:r>
            <a:endParaRPr lang="it-IT" sz="200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626435-401F-74CF-4523-0679070EACFF}"/>
              </a:ext>
            </a:extLst>
          </p:cNvPr>
          <p:cNvSpPr txBox="1"/>
          <p:nvPr/>
        </p:nvSpPr>
        <p:spPr>
          <a:xfrm>
            <a:off x="8927214" y="667455"/>
            <a:ext cx="180020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it-IT" sz="1800" b="1" u="sng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PIXEL CENTRALE</a:t>
            </a:r>
            <a:endParaRPr lang="it-IT" sz="1800" b="1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417976"/>
      </p:ext>
    </p:extLst>
  </p:cSld>
  <p:clrMapOvr>
    <a:masterClrMapping/>
  </p:clrMapOvr>
</p:sld>
</file>

<file path=ppt/theme/theme1.xml><?xml version="1.0" encoding="utf-8"?>
<a:theme xmlns:a="http://schemas.openxmlformats.org/drawingml/2006/main" name="Informatica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768_TF02901026_TF02901026.potx" id="{1C2F1F5A-5A4D-489C-B7D3-B53881242029}" vid="{94B4E6FC-1068-4A34-AEAC-2DCE747A5CE1}"/>
    </a:ext>
  </a:extLst>
</a:theme>
</file>

<file path=ppt/theme/theme2.xml><?xml version="1.0" encoding="utf-8"?>
<a:theme xmlns:a="http://schemas.openxmlformats.org/drawingml/2006/main" name="Tema di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098515-0C12-46CF-BC7C-69B4A13CD5FA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professionale con schema di circuito (widescreen)</Template>
  <TotalTime>561</TotalTime>
  <Words>966</Words>
  <Application>Microsoft Office PowerPoint</Application>
  <PresentationFormat>Widescreen</PresentationFormat>
  <Paragraphs>94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Candara</vt:lpstr>
      <vt:lpstr>Cascadia Mono SemiBold</vt:lpstr>
      <vt:lpstr>Consolas</vt:lpstr>
      <vt:lpstr>Symbol</vt:lpstr>
      <vt:lpstr>Wingdings</vt:lpstr>
      <vt:lpstr>Informatica 16x9</vt:lpstr>
      <vt:lpstr>Progettazione di Sistemi Digitali</vt:lpstr>
      <vt:lpstr>Si richiede di progettare un convolutore isotropico, per il filtraggio di immagini (32x32) in scala di grigio (pixels a 8-bit unsigned), che usi un kernel 3x3 con coefficienti a 8-bit in complemento a due.   Il circuito, oltre alla parte di calcolo, deve includere il buffer per la formazione della finestra di pixels e una parte di controllo che consenta di fornire, almeno, un segnale di valid in corrispondenza delle uscite.   Non sono richieste operazioni di arrotondamento o saturazione sui pixels filtrati.</vt:lpstr>
      <vt:lpstr> </vt:lpstr>
      <vt:lpstr> </vt:lpstr>
      <vt:lpstr> </vt:lpstr>
      <vt:lpstr>Presentazione standard di PowerPoint</vt:lpstr>
      <vt:lpstr> </vt:lpstr>
      <vt:lpstr> </vt:lpstr>
      <vt:lpstr> </vt:lpstr>
      <vt:lpstr> </vt:lpstr>
      <vt:lpstr>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GRIFFO</dc:creator>
  <cp:lastModifiedBy>GIUSEPPE GRIFFO</cp:lastModifiedBy>
  <cp:revision>23</cp:revision>
  <dcterms:created xsi:type="dcterms:W3CDTF">2025-02-15T14:08:25Z</dcterms:created>
  <dcterms:modified xsi:type="dcterms:W3CDTF">2026-03-15T19:12:49Z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